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3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5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7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8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9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0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1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2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3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4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134804284" r:id="rId2"/>
    <p:sldId id="2134804296" r:id="rId3"/>
    <p:sldId id="2134804312" r:id="rId4"/>
    <p:sldId id="2134804294" r:id="rId5"/>
    <p:sldId id="2134804300" r:id="rId6"/>
    <p:sldId id="2134804301" r:id="rId7"/>
    <p:sldId id="2134804307" r:id="rId8"/>
    <p:sldId id="2134804305" r:id="rId9"/>
    <p:sldId id="2134804315" r:id="rId10"/>
    <p:sldId id="2134804316" r:id="rId11"/>
    <p:sldId id="2134804317" r:id="rId12"/>
    <p:sldId id="2134804302" r:id="rId13"/>
    <p:sldId id="2134804304" r:id="rId14"/>
    <p:sldId id="2134804310" r:id="rId15"/>
    <p:sldId id="2134804311" r:id="rId16"/>
    <p:sldId id="2134804313" r:id="rId17"/>
  </p:sldIdLst>
  <p:sldSz cx="12192000" cy="6858000"/>
  <p:notesSz cx="7010400" cy="9296400"/>
  <p:embeddedFontLs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68" userDrawn="1">
          <p15:clr>
            <a:srgbClr val="A4A3A4"/>
          </p15:clr>
        </p15:guide>
        <p15:guide id="3" orient="horz" pos="2016" userDrawn="1">
          <p15:clr>
            <a:srgbClr val="A4A3A4"/>
          </p15:clr>
        </p15:guide>
        <p15:guide id="4" pos="72" userDrawn="1">
          <p15:clr>
            <a:srgbClr val="A4A3A4"/>
          </p15:clr>
        </p15:guide>
        <p15:guide id="5" pos="6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4B3E"/>
    <a:srgbClr val="D9D9D9"/>
    <a:srgbClr val="DDDDDD"/>
    <a:srgbClr val="F2F2F2"/>
    <a:srgbClr val="6D6D6D"/>
    <a:srgbClr val="717171"/>
    <a:srgbClr val="6F6F6F"/>
    <a:srgbClr val="7D7D7D"/>
    <a:srgbClr val="5D6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5788" autoAdjust="0"/>
  </p:normalViewPr>
  <p:slideViewPr>
    <p:cSldViewPr snapToGrid="0" snapToObjects="1">
      <p:cViewPr>
        <p:scale>
          <a:sx n="67" d="100"/>
          <a:sy n="67" d="100"/>
        </p:scale>
        <p:origin x="593" y="374"/>
      </p:cViewPr>
      <p:guideLst>
        <p:guide orient="horz" pos="168"/>
        <p:guide orient="horz" pos="2016"/>
        <p:guide pos="72"/>
        <p:guide pos="6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3309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576" y="0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25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31108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576" y="8831108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04159" tIns="46586" rIns="93174" bIns="46586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4" tIns="46586" rIns="904159" bIns="46586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558800"/>
            <a:ext cx="5575300" cy="313690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3174" tIns="46586" rIns="93174" bIns="4658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04159" tIns="46586" rIns="93174" bIns="46586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4" tIns="46586" rIns="904159" bIns="46586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5484" y="4473716"/>
            <a:ext cx="5559432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E7B4-1CDD-E1D7-61DF-BED6AC55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CAA17-50E4-5073-1E99-D10ED4439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12ECF-7004-6DF9-320A-413F57548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5F2BF-9709-8375-5949-30B3D757CF6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36780-1307-443D-C8E4-4CE5F7E09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50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589D-C540-16C7-233D-5F439464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A21BE-7BFC-77A0-D986-C87D72BD8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B1A67-11E7-5796-209C-594D5A07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F083D-3FFC-23AB-BDF1-62A36D8DB3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F3B15-0546-8E47-B8F4-2ED3FAC1C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942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8D4A-4DB8-8C0B-92BD-A8EA69AE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BBDF9-2BDB-0256-0F9C-0B92CD207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1ED5B-E919-E4E2-895D-E4817846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F8C5F-0EBC-65FF-7E46-993A2AC3583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3A7E0-F72B-C0FF-02E7-9A0C359A9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52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9340-CC95-AC57-30D0-AC705689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B3DDF-D26D-B3EA-74D2-3B9D537DA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89BBE-E28D-9543-BB2A-7F060C59E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3074-523C-A4F8-CD88-88F97143290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47C15-2C6F-52EF-69AC-C6B59B8FD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906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0E0B-B547-35A2-1A6D-8D802329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25E37-7840-E457-8A2C-E4B98731A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7415C-D641-7FA8-7301-9E24B40BB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0A3B-D38F-0BBF-8F0C-162C1041BC6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6421A-82E6-A48E-FF1B-ED0FEB2D9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50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6A81-E52C-7C15-2B2F-A0E6FB8E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28BBF-B423-7A1D-F98E-9AE5EB88D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269BE-5D20-E85F-6F92-025A10754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7AC1C-CD04-C5B2-7637-65F6FEAEBB9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EE61F-6DA0-1DFE-EBE4-1D0597487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35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1C09-C510-ADE7-927A-CCDD4D3A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3F016-B8DF-1CE2-D7CA-E5BA86B65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8AEE7-5CCE-FC7B-25BD-AA90CEA0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2E9ED-4F98-A2CD-4620-2F9C00D0A8F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C58E1-D206-1CD6-E8E7-E0F005F07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28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9F80-A08B-4DA3-CE3A-80A88A88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8714D-4EFA-20A3-4698-F126CECB9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C2E7C-E62C-5D9E-FFCA-5F8461E37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8ED36-9DE2-D320-3E7C-9EF90900BB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16AF-A147-536E-725A-0C1864683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465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6499-419F-10B5-6E42-84C60EAE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9B7F9-C8A6-B00C-D051-85601DB74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3A546-CE41-8102-734C-E54CF0377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6C20-0864-9A7F-E9CE-7E7AD4548F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AFAA2-59E0-500F-9D31-1DF5DA9AB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80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2D4B-1C79-5AEB-4214-35E61019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A28BC-CEA4-E9F5-1070-CAAC369CF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268C7-F456-4B1B-AF66-47ED75274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0A163-3E3E-9104-68DD-46E3B27E555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553CD-FA78-596D-21C8-78CB3C9C8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15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CA74D-1AC2-CF48-9F44-012EFEC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96C7A-32BB-EB93-7BFB-4BE362F26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97F3F-58FF-034D-FEF7-E15D8B577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82361-80F3-8F8B-87BD-CBA8503768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91AFD-2E59-025F-7861-54BCDA307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90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69C9-9794-1806-AD2A-26FB4248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C0CDB-11AB-20CC-1553-46DB54187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34D8E-CF4F-5717-572F-B884BDFCC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AAA3D-B510-FE91-194B-91385598EC2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1152E-7815-B8F8-8D9E-D1C94B4F0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73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BD88-23B8-0545-8E4C-C6D26DC6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5AAC5-BC6C-1C27-BF94-B8C81D7A5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6B031-5A59-2470-2786-2988EA6B0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C66D-F8FB-3227-B96E-138AF123C0F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94BF8-79AB-4AD8-EAE5-679A851C3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02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D736-D216-6A47-AA54-3EEFB7D2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95FE7-CC46-25AE-0CEE-40312A148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5B895-0951-9E55-A2DD-2183BA903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30CF-66B1-794B-D4AD-A64DD306B3C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73B90-A8C5-7E89-2EEE-024E4051A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750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0346-BEF3-70E4-9985-49F83FF2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C98DF-9AED-B6F9-E1DB-0904B2061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558800"/>
            <a:ext cx="5575300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CA73E-894E-867A-F8F1-A69CBA23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358" y="4033816"/>
            <a:ext cx="5559683" cy="16927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6CC71-60A1-4B33-567D-51C540A0E11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25 February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C9DA7-E90F-8C3C-B072-40F54D602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242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4.xml"/><Relationship Id="rId7" Type="http://schemas.openxmlformats.org/officeDocument/2006/relationships/oleObject" Target="../embeddings/oleObject2.bin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9.xml"/><Relationship Id="rId7" Type="http://schemas.openxmlformats.org/officeDocument/2006/relationships/oleObject" Target="../embeddings/oleObject3.bin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66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 err="1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4606422"/>
            <a:ext cx="9043360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017012"/>
            <a:ext cx="9043360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2278" y="3058272"/>
            <a:ext cx="9043360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0286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3" imgH="416" progId="TCLayout.ActiveDocument.1">
                  <p:embed/>
                </p:oleObj>
              </mc:Choice>
              <mc:Fallback>
                <p:oleObj name="think-cell Slide" r:id="rId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0229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ct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ct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4" y="6166806"/>
            <a:ext cx="100584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tags" Target="../tags/tag11.xml"/><Relationship Id="rId18" Type="http://schemas.openxmlformats.org/officeDocument/2006/relationships/tags" Target="../tags/tag16.xml"/><Relationship Id="rId3" Type="http://schemas.openxmlformats.org/officeDocument/2006/relationships/theme" Target="../theme/theme1.xml"/><Relationship Id="rId21" Type="http://schemas.openxmlformats.org/officeDocument/2006/relationships/tags" Target="../tags/tag19.xml"/><Relationship Id="rId7" Type="http://schemas.openxmlformats.org/officeDocument/2006/relationships/tags" Target="../tags/tag5.xml"/><Relationship Id="rId12" Type="http://schemas.openxmlformats.org/officeDocument/2006/relationships/tags" Target="../tags/tag10.xml"/><Relationship Id="rId17" Type="http://schemas.openxmlformats.org/officeDocument/2006/relationships/tags" Target="../tags/tag15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4.xml"/><Relationship Id="rId20" Type="http://schemas.openxmlformats.org/officeDocument/2006/relationships/tags" Target="../tags/tag18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11" Type="http://schemas.openxmlformats.org/officeDocument/2006/relationships/tags" Target="../tags/tag9.xml"/><Relationship Id="rId24" Type="http://schemas.openxmlformats.org/officeDocument/2006/relationships/oleObject" Target="../embeddings/oleObject1.bin"/><Relationship Id="rId5" Type="http://schemas.openxmlformats.org/officeDocument/2006/relationships/tags" Target="../tags/tag3.xml"/><Relationship Id="rId15" Type="http://schemas.openxmlformats.org/officeDocument/2006/relationships/tags" Target="../tags/tag13.xml"/><Relationship Id="rId23" Type="http://schemas.openxmlformats.org/officeDocument/2006/relationships/tags" Target="../tags/tag21.xml"/><Relationship Id="rId10" Type="http://schemas.openxmlformats.org/officeDocument/2006/relationships/tags" Target="../tags/tag8.xml"/><Relationship Id="rId19" Type="http://schemas.openxmlformats.org/officeDocument/2006/relationships/tags" Target="../tags/tag17.xml"/><Relationship Id="rId4" Type="http://schemas.openxmlformats.org/officeDocument/2006/relationships/tags" Target="../tags/tag2.xml"/><Relationship Id="rId9" Type="http://schemas.openxmlformats.org/officeDocument/2006/relationships/tags" Target="../tags/tag7.xml"/><Relationship Id="rId14" Type="http://schemas.openxmlformats.org/officeDocument/2006/relationships/tags" Target="../tags/tag12.xml"/><Relationship Id="rId22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35486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413" imgH="416" progId="TCLayout.ActiveDocument.1">
                  <p:embed/>
                </p:oleObj>
              </mc:Choice>
              <mc:Fallback>
                <p:oleObj name="think-cell Slide" r:id="rId2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 err="1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3972" y="5973600"/>
            <a:ext cx="100584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902682"/>
            <a:ext cx="403957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6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</a:p>
          <a:p>
            <a:pPr lvl="0"/>
            <a:r>
              <a:rPr lang="en-US" b="0" dirty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917658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ADD5DE74-4B55-47D8-A080-EA2BA710A958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3A7F316D-F380-4F42-A0A2-9F7FA8D2173D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F5001880-2713-4954-AA48-BA41ECBD3085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EBE457D8-FA49-4CD4-969F-195DE93AE45B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34645ABF-2B35-431A-93F7-AB37D0C16B5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A6CB8845-9469-4BA2-8F0C-46A3BF928CA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6981853F-821D-49A9-85B9-D59D1AB9C18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FDCE6037-E2EE-41E9-A5E5-2243D739FA6E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7DA3315B-63E2-4797-8209-DE42BF439A7F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D27946DB-0D6E-4832-90B9-8A1AA0D6C169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6BD0F300-2E93-47FE-BC5F-7332F01F31F5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67298CE1-17AF-4D0E-A084-8E4CADCB2A02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268C75B6-3109-4A8E-A1E2-56F03414F09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96F8D5C1-DBCF-4040-B55F-CC66BA2A9525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CEA86333-372C-467E-B7B4-6DBA6AE29AE9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42C0C6F8-78D5-4126-9C98-A1F0F9FB495D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AF46D5EE-9F86-474F-B098-F0068C761971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0FA5CE85-0114-432A-BBD4-1F732E61EC93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0B01AACD-A2F1-4780-9523-52509E5926BD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9EFE59BE-E9CC-4D41-AA5E-233D0D8B9178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69552E71-4B01-4C36-AC21-BD7466E320E9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1E1FE519-12FD-4682-AAFE-437CAA579F29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87521CA3-C572-40C1-835B-378E2C58CDB6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799DACE4-109D-4C00-9B2C-9FB5D2A6B1EB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8A151383-192B-415C-A7A5-1A1794D85186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94548757-8AC4-4BDD-B69F-C9D17D4FF4B1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F6058135-B69E-4A13-A522-E8B4A11BD36A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05F05BD0-9382-4764-9094-E722CB618C1C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154F5BA0-8DC7-43BA-AD7E-AD2717EDD15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EA5EAF54-7A2F-40F8-BDC8-FA852B935517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CAA8F68F-CF8A-4DD1-81D0-F23C137D1812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5E134C43-3F8E-4E5D-B1FF-A5A9D4F25CA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B74FABBF-679A-4119-96CA-F4671FA4E01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FED83AE1-415B-47E7-AA39-BB1DF834150E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5AD82911-31D2-4C1E-B29A-266A6E35DCE8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E3C63A35-F6DC-424E-B1A9-2AD496029EC0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46221534-6D19-4820-9158-216E5E5DD05E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13EB59BF-E957-425B-94B3-D0E20F7C256D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D3EE2887-A95C-4DA5-BAD3-C0213D202A62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34.xml"/><Relationship Id="rId7" Type="http://schemas.openxmlformats.org/officeDocument/2006/relationships/oleObject" Target="../embeddings/oleObject4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39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49.xml"/><Relationship Id="rId7" Type="http://schemas.openxmlformats.org/officeDocument/2006/relationships/oleObject" Target="../embeddings/oleObject5.bin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53.xml"/><Relationship Id="rId7" Type="http://schemas.openxmlformats.org/officeDocument/2006/relationships/image" Target="../media/image5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4" Type="http://schemas.openxmlformats.org/officeDocument/2006/relationships/tags" Target="../tags/tag54.xml"/><Relationship Id="rId9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57.xml"/><Relationship Id="rId7" Type="http://schemas.openxmlformats.org/officeDocument/2006/relationships/oleObject" Target="../embeddings/oleObject5.bin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4" Type="http://schemas.openxmlformats.org/officeDocument/2006/relationships/tags" Target="../tags/tag58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61.xml"/><Relationship Id="rId7" Type="http://schemas.openxmlformats.org/officeDocument/2006/relationships/oleObject" Target="../embeddings/oleObject5.bin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65.xml"/><Relationship Id="rId7" Type="http://schemas.openxmlformats.org/officeDocument/2006/relationships/oleObject" Target="../embeddings/oleObject5.bin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69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9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74.xml"/><Relationship Id="rId7" Type="http://schemas.openxmlformats.org/officeDocument/2006/relationships/oleObject" Target="../embeddings/oleObject5.bin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4" Type="http://schemas.openxmlformats.org/officeDocument/2006/relationships/tags" Target="../tags/tag75.xml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78.xml"/><Relationship Id="rId7" Type="http://schemas.openxmlformats.org/officeDocument/2006/relationships/oleObject" Target="../embeddings/oleObject5.bin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4" Type="http://schemas.openxmlformats.org/officeDocument/2006/relationships/tags" Target="../tags/tag79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82.xml"/><Relationship Id="rId7" Type="http://schemas.openxmlformats.org/officeDocument/2006/relationships/image" Target="../media/image14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4" Type="http://schemas.openxmlformats.org/officeDocument/2006/relationships/tags" Target="../tags/tag83.xml"/><Relationship Id="rId9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86.xml"/><Relationship Id="rId7" Type="http://schemas.openxmlformats.org/officeDocument/2006/relationships/oleObject" Target="../embeddings/oleObject5.bin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89.xml"/><Relationship Id="rId7" Type="http://schemas.openxmlformats.org/officeDocument/2006/relationships/image" Target="../media/image4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92.xml"/><Relationship Id="rId7" Type="http://schemas.openxmlformats.org/officeDocument/2006/relationships/image" Target="../media/image4.emf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95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FC82A3A-0A2D-4C91-9164-E53833C359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72" imgH="588" progId="TCLayout.ActiveDocument.1">
                  <p:embed/>
                </p:oleObj>
              </mc:Choice>
              <mc:Fallback>
                <p:oleObj name="think-cell Slide" r:id="rId7" imgW="572" imgH="588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FC82A3A-0A2D-4C91-9164-E53833C35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08DE052-9238-470A-B7A3-D8EB461E3C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44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12" name="Documenttype">
            <a:extLst>
              <a:ext uri="{FF2B5EF4-FFF2-40B4-BE49-F238E27FC236}">
                <a16:creationId xmlns:a16="http://schemas.microsoft.com/office/drawing/2014/main" id="{9D5E38D1-D534-4062-B982-941B1C9C183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51941" y="4606422"/>
            <a:ext cx="9043360" cy="2154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February 26, 2026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20BEFABD-F324-4FAB-9070-4ABF9FDF650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017012"/>
            <a:ext cx="9043360" cy="3077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ECON 5140 – Class Presentation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A5D4630-F7DD-45DE-8B28-13C4C3DDAD2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2277" y="2381163"/>
            <a:ext cx="9798738" cy="1354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b" anchorCtr="0">
            <a:spAutoFit/>
          </a:bodyPr>
          <a:lstStyle/>
          <a:p>
            <a:r>
              <a:rPr lang="en-US" dirty="0"/>
              <a:t>Option 3: </a:t>
            </a:r>
            <a:br>
              <a:rPr lang="en-US" dirty="0"/>
            </a:br>
            <a:r>
              <a:rPr lang="en-US" dirty="0"/>
              <a:t>Store Sales Forecasting</a:t>
            </a:r>
          </a:p>
        </p:txBody>
      </p:sp>
    </p:spTree>
    <p:extLst>
      <p:ext uri="{BB962C8B-B14F-4D97-AF65-F5344CB8AC3E}">
        <p14:creationId xmlns:p14="http://schemas.microsoft.com/office/powerpoint/2010/main" val="328410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A573-5417-11F6-B671-8606CDAF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9B6F1E33-3B41-65A7-12DC-4E6B19FBDB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3" imgH="424" progId="TCLayout.ActiveDocument.1">
                  <p:embed/>
                </p:oleObj>
              </mc:Choice>
              <mc:Fallback>
                <p:oleObj name="think-cell Slide" r:id="rId8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C966CF71-87FE-4484-9F34-7849F2C38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CB1FA1CD-1DCA-2CE8-0601-724BB37B40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56F55464-6339-E8B8-B016-200646D1359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9" name="ACET">
            <a:extLst>
              <a:ext uri="{FF2B5EF4-FFF2-40B4-BE49-F238E27FC236}">
                <a16:creationId xmlns:a16="http://schemas.microsoft.com/office/drawing/2014/main" id="{4566EDBD-A4AF-4113-2CDD-9736EB4CD0C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30045" y="1155603"/>
            <a:ext cx="10211197" cy="46262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00050" indent="-4000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700" kern="1200" dirty="0"/>
          </a:p>
        </p:txBody>
      </p:sp>
      <p:sp>
        <p:nvSpPr>
          <p:cNvPr id="7" name="ACET">
            <a:extLst>
              <a:ext uri="{FF2B5EF4-FFF2-40B4-BE49-F238E27FC236}">
                <a16:creationId xmlns:a16="http://schemas.microsoft.com/office/drawing/2014/main" id="{C16838AF-22A7-2E4D-18D9-1D3699AE5B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6" y="1039239"/>
            <a:ext cx="10586506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Objective: Produce a 30-day ahead forecast of total sales across a network of retail outlets using multiple forecast methods</a:t>
            </a:r>
            <a:br>
              <a:rPr lang="en-US" sz="2200" dirty="0"/>
            </a:br>
            <a:endParaRPr lang="en-US" sz="2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Data: </a:t>
            </a:r>
          </a:p>
          <a:p>
            <a:pPr marL="858838" lvl="2" indent="-342900">
              <a:spcBef>
                <a:spcPts val="1200"/>
              </a:spcBef>
              <a:spcAft>
                <a:spcPts val="600"/>
              </a:spcAft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sz="2200" dirty="0"/>
              <a:t>Daily time series data </a:t>
            </a:r>
          </a:p>
          <a:p>
            <a:pPr marL="858838" lvl="2" indent="-342900">
              <a:spcBef>
                <a:spcPts val="1200"/>
              </a:spcBef>
              <a:spcAft>
                <a:spcPts val="600"/>
              </a:spcAft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sz="2200" dirty="0"/>
              <a:t>54 stores of five types (A, B, C, D, E) </a:t>
            </a:r>
          </a:p>
          <a:p>
            <a:pPr marL="858838" lvl="2" indent="-342900">
              <a:spcBef>
                <a:spcPts val="1200"/>
              </a:spcBef>
              <a:spcAft>
                <a:spcPts val="600"/>
              </a:spcAft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sz="2200" dirty="0"/>
              <a:t>33 product families (e.g., Beverages, Pet Supplies)</a:t>
            </a:r>
          </a:p>
          <a:p>
            <a:pPr marL="858838" lvl="2" indent="-342900">
              <a:spcBef>
                <a:spcPts val="1200"/>
              </a:spcBef>
              <a:spcAft>
                <a:spcPts val="600"/>
              </a:spcAft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sz="2200" dirty="0"/>
              <a:t>Limited promotions data: count of items on promotion each day </a:t>
            </a:r>
          </a:p>
          <a:p>
            <a:pPr marL="858838" lvl="2" indent="-342900">
              <a:spcBef>
                <a:spcPts val="1200"/>
              </a:spcBef>
              <a:spcAft>
                <a:spcPts val="600"/>
              </a:spcAft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sz="2200" dirty="0"/>
              <a:t>January 2013 to August 2017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2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</p:txBody>
      </p:sp>
    </p:spTree>
    <p:extLst>
      <p:ext uri="{BB962C8B-B14F-4D97-AF65-F5344CB8AC3E}">
        <p14:creationId xmlns:p14="http://schemas.microsoft.com/office/powerpoint/2010/main" val="359796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532E-B58C-2B3F-0DA3-40F49223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532E8AE8-B6E5-6197-5B1B-C607702F0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3" imgH="424" progId="TCLayout.ActiveDocument.1">
                  <p:embed/>
                </p:oleObj>
              </mc:Choice>
              <mc:Fallback>
                <p:oleObj name="think-cell Slide" r:id="rId8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9B6F1E33-3B41-65A7-12DC-4E6B19FBDB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4FE33B51-683D-64E8-A978-E8FF4027D91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95598590-0EE1-7934-6CAA-1D350106BF5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Project methodology and model implementation followed a five-step process</a:t>
            </a:r>
          </a:p>
        </p:txBody>
      </p:sp>
      <p:sp>
        <p:nvSpPr>
          <p:cNvPr id="9" name="ACET">
            <a:extLst>
              <a:ext uri="{FF2B5EF4-FFF2-40B4-BE49-F238E27FC236}">
                <a16:creationId xmlns:a16="http://schemas.microsoft.com/office/drawing/2014/main" id="{AE7B83DD-99B4-EB59-C8D7-0254AD4F533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30045" y="1155603"/>
            <a:ext cx="10211197" cy="46262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00050" indent="-4000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700" kern="1200" dirty="0"/>
          </a:p>
        </p:txBody>
      </p:sp>
      <p:sp>
        <p:nvSpPr>
          <p:cNvPr id="7" name="ACET">
            <a:extLst>
              <a:ext uri="{FF2B5EF4-FFF2-40B4-BE49-F238E27FC236}">
                <a16:creationId xmlns:a16="http://schemas.microsoft.com/office/drawing/2014/main" id="{9DBCF825-5D88-E104-A33B-5F1675DA59A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6" y="1039239"/>
            <a:ext cx="10586506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Data structure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Data visualization and repair of long-blocks of missing data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Decomposition through additive regression model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Forecast modeling using ETS, ARIMA, and Prophet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Evaluation of model performance (MAE, RMSE, MAPE and PACF)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2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</p:txBody>
      </p:sp>
    </p:spTree>
    <p:extLst>
      <p:ext uri="{BB962C8B-B14F-4D97-AF65-F5344CB8AC3E}">
        <p14:creationId xmlns:p14="http://schemas.microsoft.com/office/powerpoint/2010/main" val="184455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F1A9-A2A2-A90A-1111-074F11BBA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822E1BE5-E707-603E-3839-BFE8F5E0D1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C966CF71-87FE-4484-9F34-7849F2C38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70095E14-74A3-D8B3-44D7-7C21BA860D1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4424ABAA-5215-DEEF-96CD-2B4438B283D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1. Data Structure</a:t>
            </a:r>
          </a:p>
        </p:txBody>
      </p:sp>
      <p:sp>
        <p:nvSpPr>
          <p:cNvPr id="5" name="ACET">
            <a:extLst>
              <a:ext uri="{FF2B5EF4-FFF2-40B4-BE49-F238E27FC236}">
                <a16:creationId xmlns:a16="http://schemas.microsoft.com/office/drawing/2014/main" id="{AF5BAE46-6553-624F-C7D0-76AA3F00E6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1039239"/>
            <a:ext cx="10586506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Daily time index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kern="1200" dirty="0"/>
              <a:t>Date range: </a:t>
            </a:r>
            <a:r>
              <a:rPr lang="en-US" sz="2200" dirty="0"/>
              <a:t>2013-01-01 to 2017-08-15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Missing only four dates – Christmas Day for 2013, 2014, 2015, 2016. These dates will simply be ignored in the models.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kern="1200" dirty="0"/>
              <a:t>100% of records complete and consistent. All </a:t>
            </a:r>
            <a:r>
              <a:rPr lang="en-US" sz="2200" dirty="0"/>
              <a:t>54 stores and all 33 product families report sales each day (even if zero).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During the sample period, initial sales occur in 46 stores and then over time 8 new stores appear to open and then add to the total sales data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dirty="0"/>
          </a:p>
          <a:p>
            <a:pPr marL="571500" lvl="1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</p:txBody>
      </p:sp>
    </p:spTree>
    <p:extLst>
      <p:ext uri="{BB962C8B-B14F-4D97-AF65-F5344CB8AC3E}">
        <p14:creationId xmlns:p14="http://schemas.microsoft.com/office/powerpoint/2010/main" val="4196057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B194-6F16-1BF7-0953-066E4813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2.png">
            <a:extLst>
              <a:ext uri="{FF2B5EF4-FFF2-40B4-BE49-F238E27FC236}">
                <a16:creationId xmlns:a16="http://schemas.microsoft.com/office/drawing/2014/main" id="{68F21210-101D-A51D-E0C2-F16BA4A67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3860" y="1302247"/>
            <a:ext cx="6322364" cy="5400893"/>
          </a:xfrm>
          <a:prstGeom prst="rect">
            <a:avLst/>
          </a:prstGeom>
        </p:spPr>
      </p:pic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663B38B7-938A-4E20-0EB8-EA6833FDCC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3" imgH="424" progId="TCLayout.ActiveDocument.1">
                  <p:embed/>
                </p:oleObj>
              </mc:Choice>
              <mc:Fallback>
                <p:oleObj name="think-cell Slide" r:id="rId8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822E1BE5-E707-603E-3839-BFE8F5E0D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7E87A5CE-0EA8-33C5-F502-90A37A6F5A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6610DFA-B358-0E84-13F5-7B22AEA90CA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7694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2. Data Visualization revealed a non-stationary series with an upward trend and increasing variance … and a similar pattern across store types</a:t>
            </a:r>
          </a:p>
        </p:txBody>
      </p:sp>
      <p:sp>
        <p:nvSpPr>
          <p:cNvPr id="5" name="ACET">
            <a:extLst>
              <a:ext uri="{FF2B5EF4-FFF2-40B4-BE49-F238E27FC236}">
                <a16:creationId xmlns:a16="http://schemas.microsoft.com/office/drawing/2014/main" id="{580332B4-C65E-CC81-7D66-713368392CB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1039239"/>
            <a:ext cx="10586506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0F6A50E9-5C16-74F7-2D31-DB99B22775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864" y="1982164"/>
            <a:ext cx="9494359" cy="40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7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758D-CF15-3AD8-B8C5-4AE72E70E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64D0CCFD-CCE6-83D4-EEFF-0C48F1FE92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663B38B7-938A-4E20-0EB8-EA6833FDC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78A8FB3B-1A5A-5DBE-8A79-C9DC97190E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44EAEC68-024B-0D88-0768-B9C06E6906A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2. Data Repair: a Prophet model to interpolate for long periods of missing data</a:t>
            </a:r>
          </a:p>
        </p:txBody>
      </p:sp>
      <p:sp>
        <p:nvSpPr>
          <p:cNvPr id="5" name="ACET">
            <a:extLst>
              <a:ext uri="{FF2B5EF4-FFF2-40B4-BE49-F238E27FC236}">
                <a16:creationId xmlns:a16="http://schemas.microsoft.com/office/drawing/2014/main" id="{AE5622D7-1400-7322-806A-640716018C5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8369" y="1194620"/>
            <a:ext cx="2918510" cy="47563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dirty="0"/>
              <a:t>For the purposes of this exercise, we assume that prolonged periods of zero sales for certain product families is due to missing data – in practice, this would have to be verified.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kern="1200" dirty="0"/>
              <a:t>Multiple product families have the same data gaps, which further suggests a data problem.</a:t>
            </a:r>
          </a:p>
        </p:txBody>
      </p:sp>
      <p:pic>
        <p:nvPicPr>
          <p:cNvPr id="10" name="image10.png">
            <a:extLst>
              <a:ext uri="{FF2B5EF4-FFF2-40B4-BE49-F238E27FC236}">
                <a16:creationId xmlns:a16="http://schemas.microsoft.com/office/drawing/2014/main" id="{2F4F6C01-EFCE-4A34-8E74-023662F024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0118" y="715296"/>
            <a:ext cx="8229600" cy="5678129"/>
          </a:xfrm>
          <a:prstGeom prst="rect">
            <a:avLst/>
          </a:prstGeom>
        </p:spPr>
      </p:pic>
      <p:pic>
        <p:nvPicPr>
          <p:cNvPr id="11" name="image2.png">
            <a:extLst>
              <a:ext uri="{FF2B5EF4-FFF2-40B4-BE49-F238E27FC236}">
                <a16:creationId xmlns:a16="http://schemas.microsoft.com/office/drawing/2014/main" id="{B70E6F0F-89EA-B4AB-73A6-35AD4F8391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0118" y="715295"/>
            <a:ext cx="8229600" cy="567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1424-3C8B-5E39-9164-6F73B0CC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6F3CABE-0AFA-23D7-44AB-4895F589A5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64D0CCFD-CCE6-83D4-EEFF-0C48F1FE92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B658D85-ABEB-200F-C477-C6C7C2B9F31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9ADD3E86-9E16-A85B-2A14-403D8413B2A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2. Once repaired, the series is much smoother</a:t>
            </a:r>
          </a:p>
        </p:txBody>
      </p:sp>
      <p:sp>
        <p:nvSpPr>
          <p:cNvPr id="5" name="ACET">
            <a:extLst>
              <a:ext uri="{FF2B5EF4-FFF2-40B4-BE49-F238E27FC236}">
                <a16:creationId xmlns:a16="http://schemas.microsoft.com/office/drawing/2014/main" id="{23B98351-8360-0165-3883-3665591AAD6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498633" y="5324168"/>
            <a:ext cx="9297186" cy="8554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dirty="0"/>
              <a:t>Made the modeling decision to remove 2013 in the repaired data set because of a level change in two large product families: DAIRY and POULTRY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1800" kern="1200" dirty="0"/>
          </a:p>
        </p:txBody>
      </p:sp>
      <p:pic>
        <p:nvPicPr>
          <p:cNvPr id="6" name="image3.png">
            <a:extLst>
              <a:ext uri="{FF2B5EF4-FFF2-40B4-BE49-F238E27FC236}">
                <a16:creationId xmlns:a16="http://schemas.microsoft.com/office/drawing/2014/main" id="{98EBA3C3-3BA2-CE0A-6025-9CD19E5025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49" y="1194620"/>
            <a:ext cx="9551548" cy="378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54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5CB2B-23F1-7E38-FC72-14255949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7D2A5D24-AB9E-DA41-EBF6-0C51E98EE3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663B38B7-938A-4E20-0EB8-EA6833FDC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08352F48-085E-6C62-FC44-18C4B94469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C6418FC7-8FF3-989D-BE97-59AF67C7A07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2. Data Visualizations – multiple seasonal patterns revealed by the box plots</a:t>
            </a:r>
          </a:p>
        </p:txBody>
      </p:sp>
      <p:sp>
        <p:nvSpPr>
          <p:cNvPr id="5" name="ACET">
            <a:extLst>
              <a:ext uri="{FF2B5EF4-FFF2-40B4-BE49-F238E27FC236}">
                <a16:creationId xmlns:a16="http://schemas.microsoft.com/office/drawing/2014/main" id="{26B76169-B5AC-DE4B-F8FE-A520A285BF0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994995"/>
            <a:ext cx="4105753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dirty="0"/>
              <a:t>Sunday is the peak day. </a:t>
            </a:r>
            <a:br>
              <a:rPr lang="en-US" dirty="0"/>
            </a:br>
            <a:r>
              <a:rPr lang="en-US" dirty="0"/>
              <a:t>Thursday is the trough day.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dirty="0"/>
              <a:t>Pay-day effect (day of month).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dirty="0"/>
              <a:t>Christmas seasonal effect, higher for certain products (Frozen Foods, Grocery, Home and Kitchen I)</a:t>
            </a:r>
          </a:p>
          <a:p>
            <a:pPr marL="342900" indent="-342900"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dirty="0"/>
              <a:t>Product specifics:</a:t>
            </a:r>
          </a:p>
          <a:p>
            <a:pPr marL="574675" lvl="2" indent="-231775">
              <a:spcBef>
                <a:spcPts val="300"/>
              </a:spcBef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dirty="0"/>
              <a:t>Sales for Liquor, Wine, Beer spike at New Years; no sales Sundays until 2016</a:t>
            </a:r>
          </a:p>
          <a:p>
            <a:pPr marL="574675" lvl="2" indent="-231775">
              <a:spcBef>
                <a:spcPts val="300"/>
              </a:spcBef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dirty="0"/>
              <a:t>All but one store is closed on New Year’s Day. Other holidays do not cause store closure.</a:t>
            </a:r>
          </a:p>
          <a:p>
            <a:pPr marL="574675" lvl="2" indent="-231775">
              <a:spcBef>
                <a:spcPts val="300"/>
              </a:spcBef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dirty="0"/>
              <a:t>School and Office Supplies have seasonal jumps</a:t>
            </a:r>
          </a:p>
          <a:p>
            <a:pPr marL="574675" lvl="2" indent="-231775">
              <a:spcBef>
                <a:spcPts val="300"/>
              </a:spcBef>
              <a:buFont typeface="Segoe UI" panose="020B0502040204020203" pitchFamily="34" charset="0"/>
              <a:buChar char="‒"/>
              <a:tabLst>
                <a:tab pos="3657600" algn="l"/>
              </a:tabLst>
            </a:pPr>
            <a:r>
              <a:rPr lang="en-US" dirty="0"/>
              <a:t>Home Appliances, Baby Care, and Books have odd patterns but are the smallest families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62BF2A-AD46-4340-5DC7-71432DDFEE13}"/>
              </a:ext>
            </a:extLst>
          </p:cNvPr>
          <p:cNvGrpSpPr/>
          <p:nvPr/>
        </p:nvGrpSpPr>
        <p:grpSpPr>
          <a:xfrm>
            <a:off x="4918666" y="778489"/>
            <a:ext cx="6349101" cy="5850911"/>
            <a:chOff x="4918667" y="778489"/>
            <a:chExt cx="3991736" cy="400788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FC0694C-4C9B-972B-1E9A-5E6107D85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3717" b="57634"/>
            <a:stretch>
              <a:fillRect/>
            </a:stretch>
          </p:blipFill>
          <p:spPr>
            <a:xfrm>
              <a:off x="4918667" y="778489"/>
              <a:ext cx="3991736" cy="265051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4BD1B4A-A444-FEB0-4ED6-9655793D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61351" b="18857"/>
            <a:stretch>
              <a:fillRect/>
            </a:stretch>
          </p:blipFill>
          <p:spPr>
            <a:xfrm>
              <a:off x="4918667" y="3429000"/>
              <a:ext cx="3991736" cy="13573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308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4274-EDCF-0486-DE24-B4318D85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13CDCD36-E52E-4EA3-6E21-BD9A3CC3B9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3" imgH="424" progId="TCLayout.ActiveDocument.1">
                  <p:embed/>
                </p:oleObj>
              </mc:Choice>
              <mc:Fallback>
                <p:oleObj name="think-cell Slide" r:id="rId8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89969CF8-70EC-163B-ABA4-5A369C1F1E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CED7315C-0791-E0B0-A8C1-EA627102B9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631B1399-D51D-7BBA-2E2C-6C733AA6483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Step 3. Modeling</a:t>
            </a:r>
          </a:p>
        </p:txBody>
      </p:sp>
      <p:sp>
        <p:nvSpPr>
          <p:cNvPr id="9" name="ACET">
            <a:extLst>
              <a:ext uri="{FF2B5EF4-FFF2-40B4-BE49-F238E27FC236}">
                <a16:creationId xmlns:a16="http://schemas.microsoft.com/office/drawing/2014/main" id="{4C2D0346-6D5A-B52E-8742-E39AF4EB126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30045" y="1155603"/>
            <a:ext cx="10211197" cy="46262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00050" indent="-4000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700" kern="1200" dirty="0"/>
          </a:p>
        </p:txBody>
      </p:sp>
      <p:sp>
        <p:nvSpPr>
          <p:cNvPr id="7" name="ACET">
            <a:extLst>
              <a:ext uri="{FF2B5EF4-FFF2-40B4-BE49-F238E27FC236}">
                <a16:creationId xmlns:a16="http://schemas.microsoft.com/office/drawing/2014/main" id="{C9901E74-B86F-5E51-49DD-F7EB72AD2F1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6" y="1039239"/>
            <a:ext cx="10586506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lphaUcPeriod"/>
              <a:tabLst>
                <a:tab pos="3657600" algn="l"/>
              </a:tabLst>
            </a:pPr>
            <a:r>
              <a:rPr lang="en-US" sz="2200" dirty="0"/>
              <a:t>ETS</a:t>
            </a:r>
            <a:endParaRPr lang="en-US" sz="2200" baseline="300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lphaUcPeriod"/>
              <a:tabLst>
                <a:tab pos="3657600" algn="l"/>
              </a:tabLst>
            </a:pPr>
            <a:r>
              <a:rPr lang="en-US" sz="2200" dirty="0"/>
              <a:t>Prophet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lphaUcPeriod"/>
              <a:tabLst>
                <a:tab pos="3657600" algn="l"/>
              </a:tabLst>
            </a:pPr>
            <a:r>
              <a:rPr lang="en-US" sz="2200" dirty="0"/>
              <a:t>OLS Regression decomposition with ARIMA … and also ETS, and Prophet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2200" dirty="0"/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2200" dirty="0"/>
              <a:t>Notes:</a:t>
            </a:r>
          </a:p>
          <a:p>
            <a:pPr marL="571500" lvl="1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Removed outliers of January 1st each year</a:t>
            </a:r>
          </a:p>
          <a:p>
            <a:pPr marL="571500" lvl="1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r>
              <a:rPr lang="en-US" sz="2200" dirty="0"/>
              <a:t>Train data starts in 2014 due to level increase in DAIRY AND POULTY at end of 2013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2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</p:txBody>
      </p:sp>
    </p:spTree>
    <p:extLst>
      <p:ext uri="{BB962C8B-B14F-4D97-AF65-F5344CB8AC3E}">
        <p14:creationId xmlns:p14="http://schemas.microsoft.com/office/powerpoint/2010/main" val="391686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4136-C61F-BBA2-04B8-D4810E1BD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459B0E3E-BC0D-981F-CB72-BD7C5402FC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13CDCD36-E52E-4EA3-6E21-BD9A3CC3B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EA2DC691-BE58-63AB-FFF4-DC203696B29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2304F2A9-86FE-F683-442E-3A2517E4D04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3A. ETS model; 80/20 train-test (decomposition in model)</a:t>
            </a:r>
          </a:p>
        </p:txBody>
      </p:sp>
      <p:sp>
        <p:nvSpPr>
          <p:cNvPr id="9" name="ACET">
            <a:extLst>
              <a:ext uri="{FF2B5EF4-FFF2-40B4-BE49-F238E27FC236}">
                <a16:creationId xmlns:a16="http://schemas.microsoft.com/office/drawing/2014/main" id="{79AE2C79-F56C-BCBD-AC3D-C383C963CBA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30045" y="1155603"/>
            <a:ext cx="10211197" cy="46262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00050" indent="-4000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700" kern="1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F489C-E43B-6E72-D094-B861CBB0249F}"/>
              </a:ext>
            </a:extLst>
          </p:cNvPr>
          <p:cNvCxnSpPr/>
          <p:nvPr/>
        </p:nvCxnSpPr>
        <p:spPr>
          <a:xfrm>
            <a:off x="582563" y="1157748"/>
            <a:ext cx="10677832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9EA268-20B2-3DEA-C31A-40F05BF6272B}"/>
              </a:ext>
            </a:extLst>
          </p:cNvPr>
          <p:cNvSpPr txBox="1"/>
          <p:nvPr/>
        </p:nvSpPr>
        <p:spPr>
          <a:xfrm>
            <a:off x="618174" y="825911"/>
            <a:ext cx="10642222" cy="33183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Holt-Winters or ETS(A,A,A): </a:t>
            </a:r>
            <a:r>
              <a:rPr lang="en-US" sz="16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dditive errors, </a:t>
            </a:r>
            <a:r>
              <a:rPr lang="en-US" sz="16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dditive Trend, </a:t>
            </a:r>
            <a:r>
              <a:rPr lang="en-US" sz="16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dditive Seasonality - Performance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0EE4E7-5B3E-E83E-50C2-32842F17D45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" b="6124"/>
          <a:stretch>
            <a:fillRect/>
          </a:stretch>
        </p:blipFill>
        <p:spPr>
          <a:xfrm>
            <a:off x="582564" y="1246267"/>
            <a:ext cx="10493476" cy="3229868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FCB173-AC64-C2B8-832C-62F1E8B98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26993"/>
              </p:ext>
            </p:extLst>
          </p:nvPr>
        </p:nvGraphicFramePr>
        <p:xfrm>
          <a:off x="6388379" y="4936817"/>
          <a:ext cx="3411924" cy="864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878">
                  <a:extLst>
                    <a:ext uri="{9D8B030D-6E8A-4147-A177-3AD203B41FA5}">
                      <a16:colId xmlns:a16="http://schemas.microsoft.com/office/drawing/2014/main" val="3825204486"/>
                    </a:ext>
                  </a:extLst>
                </a:gridCol>
                <a:gridCol w="1873046">
                  <a:extLst>
                    <a:ext uri="{9D8B030D-6E8A-4147-A177-3AD203B41FA5}">
                      <a16:colId xmlns:a16="http://schemas.microsoft.com/office/drawing/2014/main" val="2481815623"/>
                    </a:ext>
                  </a:extLst>
                </a:gridCol>
              </a:tblGrid>
              <a:tr h="2882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77637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45720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04021"/>
                  </a:ext>
                </a:extLst>
              </a:tr>
              <a:tr h="2882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96119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45720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045518"/>
                  </a:ext>
                </a:extLst>
              </a:tr>
              <a:tr h="2882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10.4%</a:t>
                      </a:r>
                    </a:p>
                  </a:txBody>
                  <a:tcPr marL="0" marR="45720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46311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71139F64-6CE0-5562-92D1-72FD25A6868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1137" t="7096" b="46237"/>
          <a:stretch>
            <a:fillRect/>
          </a:stretch>
        </p:blipFill>
        <p:spPr>
          <a:xfrm>
            <a:off x="810891" y="4041674"/>
            <a:ext cx="4014019" cy="264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68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25E2-578F-15C3-B0FF-842DAEE6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8961255D-3AB2-4A0B-8733-9119FBEB45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459B0E3E-BC0D-981F-CB72-BD7C5402F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A6E2478C-C7E4-716D-210D-EBC6B524CD3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F8D3669F-02BF-9831-CF65-8870E9171B1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3B. Prophet with 80/20 train-test (decomposition in model)</a:t>
            </a:r>
          </a:p>
        </p:txBody>
      </p:sp>
      <p:sp>
        <p:nvSpPr>
          <p:cNvPr id="9" name="ACET">
            <a:extLst>
              <a:ext uri="{FF2B5EF4-FFF2-40B4-BE49-F238E27FC236}">
                <a16:creationId xmlns:a16="http://schemas.microsoft.com/office/drawing/2014/main" id="{BD83AAD7-06F7-F5DD-8905-AC0C1B5F8E9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30045" y="1155603"/>
            <a:ext cx="10211197" cy="46262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00050" indent="-4000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700" kern="1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9B67BA-AD27-56F5-79C7-26F526F0FEDF}"/>
              </a:ext>
            </a:extLst>
          </p:cNvPr>
          <p:cNvCxnSpPr/>
          <p:nvPr/>
        </p:nvCxnSpPr>
        <p:spPr>
          <a:xfrm>
            <a:off x="582563" y="1157748"/>
            <a:ext cx="10677832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E8A593-9D5C-948E-B84E-6A13837F5F5E}"/>
              </a:ext>
            </a:extLst>
          </p:cNvPr>
          <p:cNvSpPr txBox="1"/>
          <p:nvPr/>
        </p:nvSpPr>
        <p:spPr>
          <a:xfrm>
            <a:off x="618174" y="825911"/>
            <a:ext cx="10642222" cy="33183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Prophet Model Visualization and Performance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B8D0F9-8DED-BBA0-6E52-002C036C222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6927"/>
          <a:stretch>
            <a:fillRect/>
          </a:stretch>
        </p:blipFill>
        <p:spPr>
          <a:xfrm>
            <a:off x="665775" y="1169234"/>
            <a:ext cx="10860449" cy="331427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7068C08-D415-9E58-D7FC-EDB342CE6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309871"/>
              </p:ext>
            </p:extLst>
          </p:nvPr>
        </p:nvGraphicFramePr>
        <p:xfrm>
          <a:off x="6506372" y="4917236"/>
          <a:ext cx="3411924" cy="864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878">
                  <a:extLst>
                    <a:ext uri="{9D8B030D-6E8A-4147-A177-3AD203B41FA5}">
                      <a16:colId xmlns:a16="http://schemas.microsoft.com/office/drawing/2014/main" val="3825204486"/>
                    </a:ext>
                  </a:extLst>
                </a:gridCol>
                <a:gridCol w="1873046">
                  <a:extLst>
                    <a:ext uri="{9D8B030D-6E8A-4147-A177-3AD203B41FA5}">
                      <a16:colId xmlns:a16="http://schemas.microsoft.com/office/drawing/2014/main" val="2481815623"/>
                    </a:ext>
                  </a:extLst>
                </a:gridCol>
              </a:tblGrid>
              <a:tr h="2882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88997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45720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04021"/>
                  </a:ext>
                </a:extLst>
              </a:tr>
              <a:tr h="2882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118626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45720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045518"/>
                  </a:ext>
                </a:extLst>
              </a:tr>
              <a:tr h="2882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9.2%</a:t>
                      </a:r>
                    </a:p>
                  </a:txBody>
                  <a:tcPr marL="0" marR="45720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4631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3C1D9BF-8CAA-C659-CD1C-68CFE9D6928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1137" t="53906"/>
          <a:stretch>
            <a:fillRect/>
          </a:stretch>
        </p:blipFill>
        <p:spPr>
          <a:xfrm>
            <a:off x="860321" y="4000628"/>
            <a:ext cx="4323735" cy="281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9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F170-06F0-F4D0-2F70-590ADAF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3.png">
            <a:extLst>
              <a:ext uri="{FF2B5EF4-FFF2-40B4-BE49-F238E27FC236}">
                <a16:creationId xmlns:a16="http://schemas.microsoft.com/office/drawing/2014/main" id="{A1465111-101E-8484-B441-D6A2DE1316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145" y="1583022"/>
            <a:ext cx="8018793" cy="4171393"/>
          </a:xfrm>
          <a:prstGeom prst="rect">
            <a:avLst/>
          </a:prstGeom>
        </p:spPr>
      </p:pic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62682578-5B4B-C730-FD08-9548661B75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3" imgH="424" progId="TCLayout.ActiveDocument.1">
                  <p:embed/>
                </p:oleObj>
              </mc:Choice>
              <mc:Fallback>
                <p:oleObj name="think-cell Slide" r:id="rId8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64D0CCFD-CCE6-83D4-EEFF-0C48F1FE92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DEB7EBC-BA8F-4BED-A243-306FFA0F3A9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6581C23-BABA-A20D-43C5-24551842A57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3. Decomposition, with residual autocorrelation</a:t>
            </a:r>
          </a:p>
        </p:txBody>
      </p:sp>
      <p:sp>
        <p:nvSpPr>
          <p:cNvPr id="10" name="ACET">
            <a:extLst>
              <a:ext uri="{FF2B5EF4-FFF2-40B4-BE49-F238E27FC236}">
                <a16:creationId xmlns:a16="http://schemas.microsoft.com/office/drawing/2014/main" id="{A296D1CA-E7B6-A707-1874-48DD37BBDA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577215" y="916988"/>
            <a:ext cx="2434440" cy="47563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dirty="0"/>
              <a:t>Fitted OLS regression to decompose seasonality with 90 dummy variables for day of week, day of month, week of year, and New Year’s Day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dirty="0"/>
              <a:t>All but one coefficient statistically significant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dirty="0"/>
              <a:t>Adj. R-squared of 0.84</a:t>
            </a:r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r>
              <a:rPr lang="en-US" sz="1800" kern="1200" dirty="0"/>
              <a:t>VIF test indicated no multicollinearity</a:t>
            </a:r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674134F0-2F1F-EC27-77C3-4D18320ACAF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5877"/>
          <a:stretch>
            <a:fillRect/>
          </a:stretch>
        </p:blipFill>
        <p:spPr>
          <a:xfrm>
            <a:off x="64496" y="656303"/>
            <a:ext cx="9444089" cy="593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5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7DD9-05AB-756E-2AE7-35203F9A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8.png">
            <a:extLst>
              <a:ext uri="{FF2B5EF4-FFF2-40B4-BE49-F238E27FC236}">
                <a16:creationId xmlns:a16="http://schemas.microsoft.com/office/drawing/2014/main" id="{DE361BA3-B4A2-FD4E-1FC5-75C5F4214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72" y="1076635"/>
            <a:ext cx="8953605" cy="5471648"/>
          </a:xfrm>
          <a:prstGeom prst="rect">
            <a:avLst/>
          </a:prstGeom>
        </p:spPr>
      </p:pic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3773CA3-FFC7-BAB7-450C-6546DEE7FC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BF5477FD-4F6B-EBE9-4FF3-0841136C2E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C87FF38F-2EAB-6F71-7C93-85E7C0C7ABC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58A3D5B1-46B9-E842-83DD-EA65E2B27EB2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7694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4. Fitting of time-series forecast models on residuals using 15-day expanding window cross-validation using 80/20 train-test split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02484A0-3380-56A9-E8A7-2985112EC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624976"/>
              </p:ext>
            </p:extLst>
          </p:nvPr>
        </p:nvGraphicFramePr>
        <p:xfrm>
          <a:off x="9264316" y="910390"/>
          <a:ext cx="2542671" cy="538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57">
                  <a:extLst>
                    <a:ext uri="{9D8B030D-6E8A-4147-A177-3AD203B41FA5}">
                      <a16:colId xmlns:a16="http://schemas.microsoft.com/office/drawing/2014/main" val="3825204486"/>
                    </a:ext>
                  </a:extLst>
                </a:gridCol>
                <a:gridCol w="847557">
                  <a:extLst>
                    <a:ext uri="{9D8B030D-6E8A-4147-A177-3AD203B41FA5}">
                      <a16:colId xmlns:a16="http://schemas.microsoft.com/office/drawing/2014/main" val="2481815623"/>
                    </a:ext>
                  </a:extLst>
                </a:gridCol>
                <a:gridCol w="847557">
                  <a:extLst>
                    <a:ext uri="{9D8B030D-6E8A-4147-A177-3AD203B41FA5}">
                      <a16:colId xmlns:a16="http://schemas.microsoft.com/office/drawing/2014/main" val="1662977191"/>
                    </a:ext>
                  </a:extLst>
                </a:gridCol>
              </a:tblGrid>
              <a:tr h="28821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MAPE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04021"/>
                  </a:ext>
                </a:extLst>
              </a:tr>
              <a:tr h="16478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65032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89516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7.6%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190298"/>
                  </a:ext>
                </a:extLst>
              </a:tr>
              <a:tr h="17748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69302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90580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8.3%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26828"/>
                  </a:ext>
                </a:extLst>
              </a:tr>
              <a:tr h="16762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64271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91426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7.2%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1797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36DC966-637E-D90A-694E-1D78FF80D16A}"/>
              </a:ext>
            </a:extLst>
          </p:cNvPr>
          <p:cNvSpPr txBox="1"/>
          <p:nvPr/>
        </p:nvSpPr>
        <p:spPr>
          <a:xfrm>
            <a:off x="727323" y="1264117"/>
            <a:ext cx="641682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31395-B445-B1BD-5F57-39A8CA376722}"/>
              </a:ext>
            </a:extLst>
          </p:cNvPr>
          <p:cNvSpPr txBox="1"/>
          <p:nvPr/>
        </p:nvSpPr>
        <p:spPr>
          <a:xfrm>
            <a:off x="727323" y="2998803"/>
            <a:ext cx="1098883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ARIMA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E5D70-BD6A-C8DF-B2FC-9B6DF899D290}"/>
              </a:ext>
            </a:extLst>
          </p:cNvPr>
          <p:cNvSpPr txBox="1"/>
          <p:nvPr/>
        </p:nvSpPr>
        <p:spPr>
          <a:xfrm>
            <a:off x="727323" y="4748236"/>
            <a:ext cx="1098883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Prophet</a:t>
            </a:r>
          </a:p>
        </p:txBody>
      </p:sp>
    </p:spTree>
    <p:extLst>
      <p:ext uri="{BB962C8B-B14F-4D97-AF65-F5344CB8AC3E}">
        <p14:creationId xmlns:p14="http://schemas.microsoft.com/office/powerpoint/2010/main" val="203744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6B6C6-4E9D-BB9D-0461-31861EAA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87C2BBE7-BC71-3055-10E0-38568C21D5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3" imgH="424" progId="TCLayout.ActiveDocument.1">
                  <p:embed/>
                </p:oleObj>
              </mc:Choice>
              <mc:Fallback>
                <p:oleObj name="think-cell Slide" r:id="rId6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3773CA3-FFC7-BAB7-450C-6546DEE7FC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AAA5758A-894F-B284-6FB2-356267AB140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4C6881E9-1F0D-DF71-12E6-1485356A869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4. … with confidence intervals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05D74-12A8-39FD-0C0C-C1F736158CD5}"/>
              </a:ext>
            </a:extLst>
          </p:cNvPr>
          <p:cNvSpPr txBox="1"/>
          <p:nvPr/>
        </p:nvSpPr>
        <p:spPr>
          <a:xfrm>
            <a:off x="1988311" y="1787684"/>
            <a:ext cx="641682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A803E-6CEA-9744-1026-4CB737407817}"/>
              </a:ext>
            </a:extLst>
          </p:cNvPr>
          <p:cNvSpPr txBox="1"/>
          <p:nvPr/>
        </p:nvSpPr>
        <p:spPr>
          <a:xfrm>
            <a:off x="1531110" y="3522370"/>
            <a:ext cx="1098883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ARIMA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AF9AA1-E4A5-3809-CE8B-843E95D10F90}"/>
              </a:ext>
            </a:extLst>
          </p:cNvPr>
          <p:cNvSpPr txBox="1"/>
          <p:nvPr/>
        </p:nvSpPr>
        <p:spPr>
          <a:xfrm>
            <a:off x="1531110" y="5271803"/>
            <a:ext cx="1098883" cy="36933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Prophet</a:t>
            </a: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866BC8CC-7CD3-DD77-EA8F-9E1445103C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820" y="1005898"/>
            <a:ext cx="6828503" cy="56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30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D37F-8A4C-B4A0-FED8-42404EE6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8A0A7F84-9CCB-4348-3394-6640FF96D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3" imgH="424" progId="TCLayout.ActiveDocument.1">
                  <p:embed/>
                </p:oleObj>
              </mc:Choice>
              <mc:Fallback>
                <p:oleObj name="think-cell Slide" r:id="rId6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87C2BBE7-BC71-3055-10E0-38568C21D5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E6567119-E580-8C3F-111C-DE2FD131B4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BB27BCBC-98FF-64BD-8B7C-18906DEB75B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3279845" cy="192360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5. PACF reveal some seasonality still in the residuals at day 7 and 14 for ARIMA and Prophet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892EA8-B0D3-1A88-3095-DFB07A49736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927"/>
          <a:stretch>
            <a:fillRect/>
          </a:stretch>
        </p:blipFill>
        <p:spPr>
          <a:xfrm>
            <a:off x="3959141" y="158749"/>
            <a:ext cx="7960816" cy="65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69C0-1ED9-EFDB-4656-9F826221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89969CF8-70EC-163B-ABA4-5A369C1F1E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3" imgH="424" progId="TCLayout.ActiveDocument.1">
                  <p:embed/>
                </p:oleObj>
              </mc:Choice>
              <mc:Fallback>
                <p:oleObj name="think-cell Slide" r:id="rId8" imgW="423" imgH="424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532E8AE8-B6E5-6197-5B1B-C607702F0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0F89B081-D98D-0804-6A8E-02BFD8B96D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dirty="0">
              <a:solidFill>
                <a:schemeClr val="bg1"/>
              </a:solidFill>
              <a:latin typeface="Segoe UI" panose="020B0502040204020203" pitchFamily="34" charset="0"/>
              <a:ea typeface="+mj-ea"/>
              <a:cs typeface="+mj-cs"/>
              <a:sym typeface="Segoe UI" panose="020B0502040204020203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3EFA6826-C36B-F8C3-5BD3-979152172BB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9" name="ACET">
            <a:extLst>
              <a:ext uri="{FF2B5EF4-FFF2-40B4-BE49-F238E27FC236}">
                <a16:creationId xmlns:a16="http://schemas.microsoft.com/office/drawing/2014/main" id="{C707BA2D-ACEE-92D0-7F71-6BD2B38BD1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30045" y="1155603"/>
            <a:ext cx="10211197" cy="46262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00050" indent="-4000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700" kern="1200" dirty="0"/>
          </a:p>
        </p:txBody>
      </p:sp>
      <p:sp>
        <p:nvSpPr>
          <p:cNvPr id="7" name="ACET">
            <a:extLst>
              <a:ext uri="{FF2B5EF4-FFF2-40B4-BE49-F238E27FC236}">
                <a16:creationId xmlns:a16="http://schemas.microsoft.com/office/drawing/2014/main" id="{2460B88C-77C5-FD22-C7E9-C75C1354B8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6" y="1039239"/>
            <a:ext cx="10586506" cy="5193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Data assessment and repair matters more than model selection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Somewhat similar performance across model types</a:t>
            </a:r>
            <a:endParaRPr lang="en-US" sz="2200" baseline="300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Decomposition by OLS Regression followed by forecasting of residuals worked better – and OLS + Prophet best of all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For models of OLS + forecast of residuals, subsequent regressing of residuals ~ holidays and ~</a:t>
            </a:r>
            <a:r>
              <a:rPr lang="en-US" sz="2200" dirty="0" err="1"/>
              <a:t>onpromotions</a:t>
            </a:r>
            <a:r>
              <a:rPr lang="en-US" sz="2200" dirty="0"/>
              <a:t> were significant. There is additional information as yet not captured in the models </a:t>
            </a:r>
            <a:r>
              <a:rPr lang="en-US" sz="2200" i="1" dirty="0"/>
              <a:t>(What is best course of action to include these?)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tabLst>
                <a:tab pos="3657600" algn="l"/>
              </a:tabLst>
            </a:pPr>
            <a:endParaRPr lang="en-US" sz="2200" dirty="0"/>
          </a:p>
          <a:p>
            <a:pPr>
              <a:spcBef>
                <a:spcPts val="12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22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657600" algn="l"/>
              </a:tabLst>
            </a:pPr>
            <a:endParaRPr lang="en-US" sz="2200" kern="1200" dirty="0"/>
          </a:p>
        </p:txBody>
      </p:sp>
    </p:spTree>
    <p:extLst>
      <p:ext uri="{BB962C8B-B14F-4D97-AF65-F5344CB8AC3E}">
        <p14:creationId xmlns:p14="http://schemas.microsoft.com/office/powerpoint/2010/main" val="2573262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EMPLATELASTEDITED" val="2020-04-29 03:32 PM"/>
  <p:tag name="THINKCELLPRESENTATIONDONOTDELETE" val="&lt;?xml version=&quot;1.0&quot; encoding=&quot;UTF-16&quot; standalone=&quot;yes&quot;?&gt;&lt;root reqver=&quot;25060&quot;&gt;&lt;version val=&quot;2824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1&quot;&gt;&lt;elem m_fUsage=&quot;1.00000000000000000000E+00&quot;&gt;&lt;m_msothmcolidx val=&quot;0&quot;/&gt;&lt;m_rgb r=&quot;FF&quot; g=&quot;FF&quot; b=&quot;FF&quot;/&gt;&lt;m_nBrightness endver=&quot;26206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MTBTACCENT" val="Text1ColorBoldText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hlT7lGQomWkE8tnMs3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Kt9NGQxql.w4d85RBZ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heme/theme1.xml><?xml version="1.0" encoding="utf-8"?>
<a:theme xmlns:a="http://schemas.openxmlformats.org/drawingml/2006/main" name="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EF4B3E"/>
      </a:accent1>
      <a:accent2>
        <a:srgbClr val="696868"/>
      </a:accent2>
      <a:accent3>
        <a:srgbClr val="9E9FA0"/>
      </a:accent3>
      <a:accent4>
        <a:srgbClr val="BBDDE8"/>
      </a:accent4>
      <a:accent5>
        <a:srgbClr val="10A6B5"/>
      </a:accent5>
      <a:accent6>
        <a:srgbClr val="A4CF5F"/>
      </a:accent6>
      <a:hlink>
        <a:srgbClr val="0000FF"/>
      </a:hlink>
      <a:folHlink>
        <a:srgbClr val="800080"/>
      </a:folHlink>
    </a:clrScheme>
    <a:fontScheme name="Custom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EF4B3E"/>
        </a:accent1>
        <a:accent2>
          <a:srgbClr val="696868"/>
        </a:accent2>
        <a:accent3>
          <a:srgbClr val="9E9FA0"/>
        </a:accent3>
        <a:accent4>
          <a:srgbClr val="BBDDE8"/>
        </a:accent4>
        <a:accent5>
          <a:srgbClr val="10A6B5"/>
        </a:accent5>
        <a:accent6>
          <a:srgbClr val="A4CF5F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FECA38"/>
    </a:custClr>
  </a:custClrLst>
  <a:extLst>
    <a:ext uri="{05A4C25C-085E-4340-85A3-A5531E510DB2}">
      <thm15:themeFamily xmlns:thm15="http://schemas.microsoft.com/office/thememl/2012/main" name="NW0300_OFF.potx" id="{E580FD07-352C-4B81-9183-C3A8D1E6F951}" vid="{0F5F0088-3936-47AD-9901-455049D66FA2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NW0300_OFF</Template>
  <TotalTime>312493</TotalTime>
  <Words>798</Words>
  <Application>Microsoft Office PowerPoint</Application>
  <PresentationFormat>Widescreen</PresentationFormat>
  <Paragraphs>138</Paragraphs>
  <Slides>16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Segoe UI</vt:lpstr>
      <vt:lpstr>Aptos</vt:lpstr>
      <vt:lpstr>Arial</vt:lpstr>
      <vt:lpstr>Wingdings</vt:lpstr>
      <vt:lpstr>White</vt:lpstr>
      <vt:lpstr>think-cell Slide</vt:lpstr>
      <vt:lpstr>Option 3:  Store Sales Forecasting</vt:lpstr>
      <vt:lpstr>Project overview</vt:lpstr>
      <vt:lpstr>Project methodology and model implementation followed a five-step process</vt:lpstr>
      <vt:lpstr>1. Data Structure</vt:lpstr>
      <vt:lpstr>2. Data Visualization revealed a non-stationary series with an upward trend and increasing variance … and a similar pattern across store types</vt:lpstr>
      <vt:lpstr>2. Data Repair: a Prophet model to interpolate for long periods of missing data</vt:lpstr>
      <vt:lpstr>2. Once repaired, the series is much smoother</vt:lpstr>
      <vt:lpstr>2. Data Visualizations – multiple seasonal patterns revealed by the box plots</vt:lpstr>
      <vt:lpstr>Step 3. Modeling</vt:lpstr>
      <vt:lpstr>3A. ETS model; 80/20 train-test (decomposition in model)</vt:lpstr>
      <vt:lpstr>3B. Prophet with 80/20 train-test (decomposition in model)</vt:lpstr>
      <vt:lpstr>3. Decomposition, with residual autocorrelation</vt:lpstr>
      <vt:lpstr>4. Fitting of time-series forecast models on residuals using 15-day expanding window cross-validation using 80/20 train-test split</vt:lpstr>
      <vt:lpstr>4. … with confidence intervals</vt:lpstr>
      <vt:lpstr>5. PACF reveal some seasonality still in the residuals at day 7 and 14 for ARIMA and Prophet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Ingrid Navarro Brenes</dc:creator>
  <cp:keywords/>
  <dc:description/>
  <cp:lastModifiedBy>Curt Bailey</cp:lastModifiedBy>
  <cp:revision>1245</cp:revision>
  <cp:lastPrinted>2025-12-11T00:27:39Z</cp:lastPrinted>
  <dcterms:created xsi:type="dcterms:W3CDTF">2020-04-30T14:06:50Z</dcterms:created>
  <dcterms:modified xsi:type="dcterms:W3CDTF">2026-02-26T00:32:31Z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2020-04-29 03:32 PM</vt:lpwstr>
  </property>
  <property fmtid="{D5CDD505-2E9C-101B-9397-08002B2CF9AE}" pid="8" name="TemplateCreated">
    <vt:lpwstr>2019-02-27 01:18 PM</vt:lpwstr>
  </property>
</Properties>
</file>